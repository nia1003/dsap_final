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5029200" cy="5029200"/>
          </a:xfrm>
          <a:prstGeom prst="ellipse">
            <a:avLst/>
          </a:prstGeom>
          <a:solidFill>
            <a:srgbClr val="EDE8FF">
              <a:alpha val="80000"/>
            </a:srgbClr>
          </a:solidFill>
          <a:ln w="12700">
            <a:solidFill>
              <a:srgbClr val="EDE8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D4F5EC">
              <a:alpha val="75000"/>
            </a:srgbClr>
          </a:solidFill>
          <a:ln w="12700">
            <a:solidFill>
              <a:srgbClr val="D4F5EC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914400"/>
            <a:ext cx="2743200" cy="2743200"/>
          </a:xfrm>
          <a:prstGeom prst="ellipse">
            <a:avLst/>
          </a:prstGeom>
          <a:solidFill>
            <a:srgbClr val="FEF0C0">
              <a:alpha val="70000"/>
            </a:srgbClr>
          </a:solidFill>
          <a:ln w="12700">
            <a:solidFill>
              <a:srgbClr val="FEF0C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640080"/>
            <a:ext cx="6400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  <a:effectLst>
            <a:outerShdw sx="100000" sy="100000" kx="0" ky="0" algn="bl" rotWithShape="0" blurRad="177800" dist="38100" dir="8400000">
              <a:srgbClr val="B8A8D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640080"/>
            <a:ext cx="6400800" cy="5029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777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專注 · 成長 · 共生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3291840" cy="0"/>
          </a:xfrm>
          <a:prstGeom prst="line">
            <a:avLst/>
          </a:prstGeom>
          <a:noFill/>
          <a:ln w="12700">
            <a:solidFill>
              <a:srgbClr val="E4D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94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 3：系統開發與測試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 ·  2026.06.08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84248" y="3310128"/>
            <a:ext cx="1554480" cy="320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4248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React Native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4760" y="3310128"/>
            <a:ext cx="1554480" cy="32004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05272" y="3310128"/>
            <a:ext cx="1554480" cy="32004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3310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報告議程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分鐘報告流程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25780" y="1170432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170432"/>
            <a:ext cx="50292" cy="91440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796" y="1426464"/>
            <a:ext cx="384048" cy="384048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14447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1348" y="12618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專案背景回顧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41348" y="167335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問題定位 · 目標用戶 · 商業模式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77740" y="1170432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7740" y="1170432"/>
            <a:ext cx="50292" cy="914400"/>
          </a:xfrm>
          <a:prstGeom prst="rect">
            <a:avLst/>
          </a:prstGeom>
          <a:solidFill>
            <a:srgbClr val="3478C4"/>
          </a:solidFill>
          <a:ln w="12700">
            <a:solidFill>
              <a:srgbClr val="3478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5756" y="1426464"/>
            <a:ext cx="384048" cy="384048"/>
          </a:xfrm>
          <a:prstGeom prst="ellipse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5756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7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52" y="144475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93308" y="12618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功能 Demo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893308" y="167335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計時器 · 微反思 · 遊戲化回饋 · 統計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25780" y="2340864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25780" y="2340864"/>
            <a:ext cx="50292" cy="91440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3796" y="2596896"/>
            <a:ext cx="384048" cy="384048"/>
          </a:xfrm>
          <a:prstGeom prst="ellipse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79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261518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41348" y="243230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技術架構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641348" y="28437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Supabase · Edge Functions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77740" y="2340864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77740" y="2340864"/>
            <a:ext cx="50292" cy="914400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905756" y="2596896"/>
            <a:ext cx="384048" cy="384048"/>
          </a:xfrm>
          <a:prstGeom prst="ellipse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90575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2" y="2615184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893308" y="243230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Testing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5893308" y="28437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測試設計 · 結果分析 · 迭代改善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25780" y="3511296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25780" y="3511296"/>
            <a:ext cx="50292" cy="914400"/>
          </a:xfrm>
          <a:prstGeom prst="rect">
            <a:avLst/>
          </a:prstGeom>
          <a:solidFill>
            <a:srgbClr val="C45680"/>
          </a:solidFill>
          <a:ln w="12700">
            <a:solidFill>
              <a:srgbClr val="C4568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53796" y="3767328"/>
            <a:ext cx="384048" cy="384048"/>
          </a:xfrm>
          <a:prstGeom prst="ellipse">
            <a:avLst/>
          </a:prstGeom>
          <a:solidFill>
            <a:srgbClr val="FFE4EE"/>
          </a:solidFill>
          <a:ln w="12700">
            <a:solidFill>
              <a:srgbClr val="FFE4EE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5379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6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292" y="3785616"/>
            <a:ext cx="329184" cy="32918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641348" y="36027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開發完成度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1641348" y="40142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達成率 vs. 原計畫比較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777740" y="3511296"/>
            <a:ext cx="3840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777740" y="3511296"/>
            <a:ext cx="50292" cy="91440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905756" y="3767328"/>
            <a:ext cx="384048" cy="384048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90575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252" y="3785616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893308" y="36027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商業價值 &amp; 下一步</a:t>
            </a:r>
            <a:endParaRPr lang="en-US" sz="1350" dirty="0"/>
          </a:p>
        </p:txBody>
      </p:sp>
      <p:sp>
        <p:nvSpPr>
          <p:cNvPr id="46" name="Text 38"/>
          <p:cNvSpPr/>
          <p:nvPr/>
        </p:nvSpPr>
        <p:spPr>
          <a:xfrm>
            <a:off x="5893308" y="40142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可行性評估 · Post-MVP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專案背景回顧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114800" cy="50292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問題意識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09344"/>
            <a:ext cx="3840480" cy="78638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700784"/>
            <a:ext cx="237744" cy="237744"/>
          </a:xfrm>
          <a:prstGeom prst="ellipse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007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16733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頻繁滑手機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19751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讀書時原本想查資料，卻中途切換 App、被通知打斷，再也回不來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3840480" cy="78638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615184"/>
            <a:ext cx="237744" cy="237744"/>
          </a:xfrm>
          <a:prstGeom prst="ellipse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5877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無法量化專注狀態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8895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不知道自己分心幾次、每次暫停了多久，無從改善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38144"/>
            <a:ext cx="3840480" cy="78638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529584"/>
            <a:ext cx="237744" cy="237744"/>
          </a:xfrm>
          <a:prstGeom prst="ellipse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9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350215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找不到適合的做事方式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80390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做事成效非常看當下狀態（心情、壓力），缺乏客觀紀錄幫助調整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51560"/>
            <a:ext cx="4114800" cy="50292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目標用戶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1572768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74920" y="15453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歲職場工作者 / 學生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956816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74920" y="19293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有專注困擾，習慣手機操作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340864"/>
            <a:ext cx="182880" cy="1828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074920" y="2313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對遊戲化激勵有正向回應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663440" y="2990088"/>
            <a:ext cx="4114800" cy="1810512"/>
          </a:xfrm>
          <a:prstGeom prst="rect">
            <a:avLst/>
          </a:prstGeom>
          <a:solidFill>
            <a:srgbClr val="EDE8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63440" y="2990088"/>
            <a:ext cx="4114800" cy="5029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09744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核心價值主張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4809744" y="349300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讓專注變成習慣，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讓反思推動成長，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讓共生夥伴陪你前進。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商業模式回顧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策略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3931920" cy="42062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免費版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934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" y="1572768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基礎番茄鐘（25 / 5 min）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8483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2048256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單一寵物夥伴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6032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" y="2523744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微反思表單（預設選項）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3580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7824" y="299923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基礎數據統計（7 天）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1129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7824" y="34747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日曆熱力圖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986784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77824" y="3950208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 XP 累積與等級成長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572000" y="1051560"/>
            <a:ext cx="4206240" cy="420624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4572000" y="10515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付費版</a:t>
            </a:r>
            <a:endParaRPr lang="en-US" sz="1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609344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84064" y="1572768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自訂計時長度（無限制）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208483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84064" y="2048256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多寵物解鎖與換裝系統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560320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084064" y="2523744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個人化分心洞察建議</a:t>
            </a:r>
            <a:endParaRPr lang="en-US" sz="11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3035808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084064" y="2999232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無限數據歷史 + CSV 匯出</a:t>
            </a:r>
            <a:endParaRPr lang="en-US" sz="11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3511296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084064" y="3474720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行為風格深度分析</a:t>
            </a:r>
            <a:endParaRPr lang="en-US" sz="11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3986784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84064" y="3950208"/>
            <a:ext cx="3529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徽章合成爐（Generative AI）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8" name="Text 24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變現：月費 NT$149 · 年費 NT$1,199 · 寵物外觀道具 In-App Purchase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功能總覽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開發完成狀態一覽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4041648"/>
        </p:xfrm>
        <a:graphic>
          <a:graphicData uri="http://schemas.openxmlformats.org/drawingml/2006/table">
            <a:tbl>
              <a:tblPr/>
              <a:tblGrid>
                <a:gridCol w="868680"/>
                <a:gridCol w="6035040"/>
                <a:gridCol w="15087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功能項目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狀態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郵件登入 / 認證流程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Carousel + XP 進度條 + 等級顯示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風格日曆熱力圖（點擊查看日誌）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FocusSetupModal（目標輸入 + 計時長度選擇）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計時器（開始 / 暫停 / 恢復 / 放棄）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微反思表單（分心標籤 + 完成度滑桿 + 情緒評分）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畫面（XP 進度動畫 · 寵物成長）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畫面（品質分數 · 漸層卡片）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統計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 頁 DISC 雷達圖（多次 Session 聚合）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統計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近期 Session 列表（任務名稱 + 時段）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完成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導覽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流程（暱稱 + 選蛋 + 同意書）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🔲  待開發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Guard（未登入 → auth，已登入 → home）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🔲  待開發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B8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背景計時推播提醒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🔲  待開發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Demo（1/4）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專注計時器流程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204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520440" cy="5029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用戶流程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264408" cy="60350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設定專注目標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1929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輸入任務名稱，選擇番茄鐘或自訂時長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3264408" cy="60350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59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開始計時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全螢幕計時視圖，寵物同步顯示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026664"/>
            <a:ext cx="3264408" cy="60350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729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暫停 / 恢復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可暫停休息後繼續，狀態完整保存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9896"/>
            <a:ext cx="3264408" cy="60350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8620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完成或放棄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7552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計時結束自動進入微反思；長按放棄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069080" y="1051560"/>
            <a:ext cx="4709160" cy="3749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VIDEO / SCREENSHOT ]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069080" y="44074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FocusSetupModal → Timer → Complete / Quit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Demo（2/4）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微反思表單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204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520440" cy="50292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反思設計理念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264408" cy="60350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分心原因標籤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1929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8 個常見選項，快速單選 / 多選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3264408" cy="60350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59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完成度滑桿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0–100% 評估本次實際專注品質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026664"/>
            <a:ext cx="3264408" cy="60350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729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情緒感受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種情緒快速選擇（Emoji 互動）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9896"/>
            <a:ext cx="3264408" cy="60350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8620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品質分數計算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7552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後端即時計算，驅動 Reward 頁展示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069080" y="1051560"/>
            <a:ext cx="4709160" cy="3749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VIDEO / SCREENSHOT ]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069080" y="44074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Form → 標籤 + 滑桿 + 情緒 → Quality Score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Demo（3/4）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遊戲化回饋 &amp; 分析報告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204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520440" cy="50292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&amp;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264408" cy="60350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XP 進度條動畫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1929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 動畫，隱藏原始 XP 數字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3264408" cy="60350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59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寵物成長視覺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根據品質分數顯示寵物狀態變化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026664"/>
            <a:ext cx="3264408" cy="60350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729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品質分數漸層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高分冷色調；低分暖色調卡片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9896"/>
            <a:ext cx="3264408" cy="60350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8620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改善建議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7552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卡片顯示下次專注改善方向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069080" y="1051560"/>
            <a:ext cx="4709160" cy="3749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VIDEO / SCREENSHOT ]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069080" y="44074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Screen → XP Animation → Analysis Card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 Demo（4/4）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數據統計 &amp; 日曆熱力圖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204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520440" cy="50292"/>
          </a:xfrm>
          <a:prstGeom prst="rect">
            <a:avLst/>
          </a:prstGeom>
          <a:solidFill>
            <a:srgbClr val="3478C4"/>
          </a:solidFill>
          <a:ln w="12700">
            <a:solidFill>
              <a:srgbClr val="347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78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 &amp; Calendar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264408" cy="603504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87552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 雷達圖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" y="1929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 Session 聚合行為風格（Stats 頁獨有）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3264408" cy="603504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597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列表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87552" y="2642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任務名稱 + 時段 + 品質分數展示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026664"/>
            <a:ext cx="3264408" cy="603504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729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日曆熱力圖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風格深淺點，點擊查看當日記錄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739896"/>
            <a:ext cx="3264408" cy="603504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8620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日誌手風琴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7552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滑動切換週視圖，Mon–Sun Session 詳情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069080" y="1051560"/>
            <a:ext cx="4709160" cy="3749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663440" y="1417320"/>
            <a:ext cx="3520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DEMO VIDEO / SCREENSHOT ]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069080" y="44074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→ DISC Radar → Calendar Heatmap → Day-Log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7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技術架構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70048" cy="42062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155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(Client)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0352" y="1572768"/>
            <a:ext cx="2359152" cy="64008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157276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 54 + React Native 0.81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" y="2304288"/>
            <a:ext cx="2359152" cy="64008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3042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v6（File-based routing）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" y="3035808"/>
            <a:ext cx="2359152" cy="64008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358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Zustand（authStore · petStore）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" y="3767328"/>
            <a:ext cx="2359152" cy="64008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76732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Tokens（theme.ts）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18688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18688" y="1051560"/>
            <a:ext cx="2670048" cy="42062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1556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30752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後端服務 (Backend)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383280" y="1572768"/>
            <a:ext cx="2359152" cy="64008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74720" y="157276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383280" y="2304288"/>
            <a:ext cx="2359152" cy="64008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74720" y="23042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Functions（Deno）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383280" y="3035808"/>
            <a:ext cx="2359152" cy="64008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30358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session-complete Edge Function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383280" y="3767328"/>
            <a:ext cx="2359152" cy="64008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74720" y="376732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Security（RLS）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071616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71616" y="1051560"/>
            <a:ext cx="2670048" cy="42062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1556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83680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分析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236208" y="1572768"/>
            <a:ext cx="2359152" cy="64008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27648" y="157276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品質分數計算邏輯（後端）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236208" y="2304288"/>
            <a:ext cx="2359152" cy="64008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27648" y="23042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聚合分析（後端）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236208" y="3035808"/>
            <a:ext cx="2359152" cy="64008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27648" y="30358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Chatbot（Claude API）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236208" y="3767328"/>
            <a:ext cx="2359152" cy="64008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327648" y="376732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（未來）分心洞察 NLP 建議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Testing — 測試設計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70048" cy="42062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1556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測試對象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0352" y="1572768"/>
            <a:ext cx="36576" cy="50292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572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位受測者（3 大學生 / 2 上班族）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" y="2304288"/>
            <a:ext cx="36576" cy="50292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3042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年齡：20–30 歲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" y="3035808"/>
            <a:ext cx="36576" cy="50292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0358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均曾使用過番茄鐘工具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0352" y="3767328"/>
            <a:ext cx="36576" cy="50292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Think-Aloud Protocol 進行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18688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18688" y="1051560"/>
            <a:ext cx="2670048" cy="420624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1556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30752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測試場景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383280" y="1572768"/>
            <a:ext cx="36576" cy="5029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93008" y="1572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首次登入並開始第一次專注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383280" y="2304288"/>
            <a:ext cx="36576" cy="5029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93008" y="23042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計時中暫停後恢復，完成 Session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83280" y="3035808"/>
            <a:ext cx="36576" cy="5029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93008" y="30358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填寫微反思表單並查看 Reward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83280" y="3767328"/>
            <a:ext cx="36576" cy="502920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93008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 Stats 頁並點擊日曆日誌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071616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071616" y="1051560"/>
            <a:ext cx="2670048" cy="42062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11556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83680" y="1051560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評估指標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236208" y="1572768"/>
            <a:ext cx="36576" cy="502920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345936" y="157276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Rate（任務完成率）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236208" y="2304288"/>
            <a:ext cx="36576" cy="502920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345936" y="230428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操作錯誤次數 &amp; 求助次數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236208" y="3035808"/>
            <a:ext cx="36576" cy="502920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45936" y="303580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可用性量表（0–100 分）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236208" y="3767328"/>
            <a:ext cx="36576" cy="502920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345936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口頭回饋 &amp; 建議記錄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Testing — 測試結果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1353312"/>
          </a:xfrm>
          <a:prstGeom prst="rect">
            <a:avLst/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分數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✓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1353312"/>
          </a:xfrm>
          <a:prstGeom prst="rect">
            <a:avLst/>
          </a:prstGeom>
          <a:solidFill>
            <a:srgbClr val="D4F5EC"/>
          </a:solidFill>
          <a:ln w="9525">
            <a:solidFill>
              <a:srgbClr val="D4F5EC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15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4612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任務完成率（平均）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011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位受測者平均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353312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155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0" y="1719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發現問題總數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 2 · 中 5 · 輕微 4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8412480" cy="2395728"/>
        </p:xfrm>
        <a:graphic>
          <a:graphicData uri="http://schemas.openxmlformats.org/drawingml/2006/table">
            <a:tbl>
              <a:tblPr/>
              <a:tblGrid>
                <a:gridCol w="1005840"/>
                <a:gridCol w="466344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嚴重度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問題描述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改善措施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C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嚴重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微反思表單彈出時機不明確，部分用戶不知道已完成計時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D9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加入明確動畫提示 + 完成音效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嚴重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DurationSlider 輸入後數字鍵盤遮蓋確認按鈕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D9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鍵盤彈出時自動 scroll 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放棄按鈕與暫停按鈕位置易混淆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D9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改為需長按確認放棄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 動畫播放過快，用戶未能注意到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D9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延長動畫 + Haptic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7C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4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分心標籤缺少「工作相關事項」類別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1D9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新增標籤選項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迭代改善 — Before / After 對比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微反思觸發提示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3886200" cy="978408"/>
          </a:xfrm>
          <a:prstGeom prst="rect">
            <a:avLst/>
          </a:prstGeom>
          <a:solidFill>
            <a:srgbClr val="FEE2E2"/>
          </a:solidFill>
          <a:ln w="9525">
            <a:solidFill>
              <a:srgbClr val="FEE2E2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44168"/>
            <a:ext cx="50292" cy="978408"/>
          </a:xfrm>
          <a:prstGeom prst="rect">
            <a:avLst/>
          </a:prstGeom>
          <a:solidFill>
            <a:srgbClr val="C42626"/>
          </a:solidFill>
          <a:ln w="12700">
            <a:solidFill>
              <a:srgbClr val="C4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081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" y="1664208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計時結束直接彈出表單，無過渡動畫，用戶感到突然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15968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92040" y="1344168"/>
            <a:ext cx="3886200" cy="978408"/>
          </a:xfrm>
          <a:prstGeom prst="rect">
            <a:avLst/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344168"/>
            <a:ext cx="50292" cy="978408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14081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38344" y="1664208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2 秒「任務完成！」動畫 + 音效，再平滑進入表單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8412480" cy="27432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414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放棄任務體驗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06624"/>
            <a:ext cx="3886200" cy="978408"/>
          </a:xfrm>
          <a:prstGeom prst="rect">
            <a:avLst/>
          </a:prstGeom>
          <a:solidFill>
            <a:srgbClr val="FEE2E2"/>
          </a:solidFill>
          <a:ln w="9525">
            <a:solidFill>
              <a:srgbClr val="FEE2E2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06624"/>
            <a:ext cx="50292" cy="978408"/>
          </a:xfrm>
          <a:prstGeom prst="rect">
            <a:avLst/>
          </a:prstGeom>
          <a:solidFill>
            <a:srgbClr val="C42626"/>
          </a:solidFill>
          <a:ln w="12700">
            <a:solidFill>
              <a:srgbClr val="C4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7706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2064" y="3026664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放棄按鈕與暫停按鈕視覺相近，誤觸率高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5968" y="29809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892040" y="2706624"/>
            <a:ext cx="3886200" cy="978408"/>
          </a:xfrm>
          <a:prstGeom prst="rect">
            <a:avLst/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706624"/>
            <a:ext cx="50292" cy="978408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8344" y="2770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38344" y="3026664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放棄改為危險紅色 + 長按確認設計，降低誤操作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776472"/>
            <a:ext cx="8412480" cy="27432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776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DurationSlider 互動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3886200" cy="978408"/>
          </a:xfrm>
          <a:prstGeom prst="rect">
            <a:avLst/>
          </a:prstGeom>
          <a:solidFill>
            <a:srgbClr val="FEE2E2"/>
          </a:solidFill>
          <a:ln w="9525">
            <a:solidFill>
              <a:srgbClr val="FEE2E2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69080"/>
            <a:ext cx="50292" cy="978408"/>
          </a:xfrm>
          <a:prstGeom prst="rect">
            <a:avLst/>
          </a:prstGeom>
          <a:solidFill>
            <a:srgbClr val="C42626"/>
          </a:solidFill>
          <a:ln w="12700">
            <a:solidFill>
              <a:srgbClr val="C4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2064" y="4389120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鍵盤彈出後遮住確認按鈕，用戶無法完成輸入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15968" y="4343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4892040" y="4069080"/>
            <a:ext cx="3886200" cy="978408"/>
          </a:xfrm>
          <a:prstGeom prst="rect">
            <a:avLst/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4069080"/>
            <a:ext cx="50292" cy="978408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38344" y="4389120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輸入時自動向上 scroll，確認按鈕始終可見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84124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Test-Driven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12064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測試策略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5204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3520440" cy="5029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測試工具與策略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91056"/>
            <a:ext cx="3255264" cy="658368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36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RNTL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91109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元件單元測試（Timer · Slider · Reflection）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59152"/>
            <a:ext cx="3255264" cy="658368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04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679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本地測試（session-complete）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3255264" cy="658368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729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Go + 實機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4472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整合測試 &amp; 手動驗證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95344"/>
            <a:ext cx="3255264" cy="658368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410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Think-Aloud Testing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可用性測試（5 位受測者）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9080" y="1115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測試情境清單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69080" y="1600200"/>
            <a:ext cx="4709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1600200"/>
            <a:ext cx="594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600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1636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計時器開始 / 暫停 / 恢復狀態切換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1636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69080" y="2002536"/>
            <a:ext cx="4709160" cy="347472"/>
          </a:xfrm>
          <a:prstGeom prst="rect">
            <a:avLst/>
          </a:prstGeom>
          <a:solidFill>
            <a:srgbClr val="F9F6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2002536"/>
            <a:ext cx="594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200253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DurationSlider 邊界值驗證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0" y="2039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69080" y="2404872"/>
            <a:ext cx="4709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69080" y="2404872"/>
            <a:ext cx="594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40487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36592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反思表單欄位驗證（空白 / 極值）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0" y="24414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69080" y="2807208"/>
            <a:ext cx="4709160" cy="347472"/>
          </a:xfrm>
          <a:prstGeom prst="rect">
            <a:avLst/>
          </a:prstGeom>
          <a:solidFill>
            <a:srgbClr val="F9F6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2807208"/>
            <a:ext cx="594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280720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36592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品質分數計算邏輯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2843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69080" y="3209544"/>
            <a:ext cx="4709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69080" y="3209544"/>
            <a:ext cx="59436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320954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36592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累積與等級升級邏輯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069080" y="3611880"/>
            <a:ext cx="4709160" cy="347472"/>
          </a:xfrm>
          <a:prstGeom prst="rect">
            <a:avLst/>
          </a:prstGeom>
          <a:solidFill>
            <a:srgbClr val="F9F6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69080" y="3611880"/>
            <a:ext cx="594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9080" y="36118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36592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session-complete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3648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069080" y="4014216"/>
            <a:ext cx="4709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69080" y="4014216"/>
            <a:ext cx="59436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69080" y="401421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36592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getWeekSessions 查詢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55280" y="4050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69080" y="4416552"/>
            <a:ext cx="4709160" cy="347472"/>
          </a:xfrm>
          <a:prstGeom prst="rect">
            <a:avLst/>
          </a:prstGeom>
          <a:solidFill>
            <a:srgbClr val="F9F6FF"/>
          </a:solidFill>
          <a:ln w="6350">
            <a:solidFill>
              <a:srgbClr val="E4DC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69080" y="4416552"/>
            <a:ext cx="59436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69080" y="441655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待補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36592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背景執行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55280" y="4453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FFE4EE"/>
          </a:solidFill>
          <a:ln w="12700">
            <a:solidFill>
              <a:srgbClr val="FFE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開發完成度 vs. 原計畫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1298448"/>
          </a:xfrm>
          <a:prstGeom prst="rect">
            <a:avLst/>
          </a:prstGeom>
          <a:solidFill>
            <a:srgbClr val="D1FAE5"/>
          </a:solidFill>
          <a:ln w="9525">
            <a:solidFill>
              <a:srgbClr val="D1FAE5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功能完成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MVP 功能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1298448"/>
          </a:xfrm>
          <a:prstGeom prst="rect">
            <a:avLst/>
          </a:prstGeom>
          <a:solidFill>
            <a:srgbClr val="D4F5EC"/>
          </a:solidFill>
          <a:ln w="9525">
            <a:solidFill>
              <a:srgbClr val="D4F5EC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155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46120" y="1700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975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1–6 整體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298448"/>
          </a:xfrm>
          <a:prstGeom prst="rect">
            <a:avLst/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155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項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126480" y="17007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待補功能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9751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Guard · Push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6334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登入 / 認證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63240" y="2670048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670048"/>
            <a:ext cx="3497580" cy="18288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2624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0" y="262432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Onboarding &amp; Route Guard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035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任務設定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63240" y="3072384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3240" y="3072384"/>
            <a:ext cx="4114800" cy="18288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3026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0" y="302666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完整：FocusSetupModal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3438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專注執行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63240" y="3474720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3240" y="3474720"/>
            <a:ext cx="3291840" cy="18288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34290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 Push Notification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微反思結算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63240" y="3877056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63240" y="3877056"/>
            <a:ext cx="4114800" cy="182880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38313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383133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完整：標籤 + 滑桿 + 情緒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242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· 遊戲化回饋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063240" y="4279392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63240" y="4279392"/>
            <a:ext cx="3703320" cy="18288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4233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72400" y="423367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動畫時機待優化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4645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· 數據洞察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4681728"/>
            <a:ext cx="4114800" cy="182880"/>
          </a:xfrm>
          <a:prstGeom prst="rect">
            <a:avLst/>
          </a:prstGeom>
          <a:solidFill>
            <a:srgbClr val="E4DCF4"/>
          </a:solidFill>
          <a:ln w="12700">
            <a:solidFill>
              <a:srgbClr val="E4DC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63240" y="4681728"/>
            <a:ext cx="3909060" cy="182880"/>
          </a:xfrm>
          <a:prstGeom prst="rect">
            <a:avLst/>
          </a:prstGeom>
          <a:solidFill>
            <a:srgbClr val="1D9F82"/>
          </a:solidFill>
          <a:ln w="12700">
            <a:solidFill>
              <a:srgbClr val="1D9F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42048" y="4636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0" y="463600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完整：Stats + Calendar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商業價值與可行性評估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1261872"/>
          </a:xfrm>
          <a:prstGeom prst="rect">
            <a:avLst/>
          </a:prstGeom>
          <a:solidFill>
            <a:srgbClr val="FEF0C0"/>
          </a:solidFill>
          <a:ln w="9525">
            <a:solidFill>
              <a:srgbClr val="FEF0C0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 億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全球正念 App 市場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年市值（USD）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1261872"/>
          </a:xfrm>
          <a:prstGeom prst="rect">
            <a:avLst/>
          </a:prstGeom>
          <a:solidFill>
            <a:srgbClr val="D4F5EC"/>
          </a:solidFill>
          <a:ln w="9525">
            <a:solidFill>
              <a:srgbClr val="D4F5EC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1556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9F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年均增長率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App CAGR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06040" cy="1261872"/>
          </a:xfrm>
          <a:prstGeom prst="rect">
            <a:avLst/>
          </a:prstGeom>
          <a:solidFill>
            <a:srgbClr val="EDE8FF"/>
          </a:solidFill>
          <a:ln w="9525">
            <a:solidFill>
              <a:srgbClr val="EDE8FF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15568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NT$149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664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月費訂閱定價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符合台灣付費意願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393192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50592"/>
            <a:ext cx="3931920" cy="50292"/>
          </a:xfrm>
          <a:prstGeom prst="rect">
            <a:avLst/>
          </a:prstGeom>
          <a:solidFill>
            <a:srgbClr val="C47C0C"/>
          </a:solidFill>
          <a:ln w="12700">
            <a:solidFill>
              <a:srgbClr val="C47C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C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競爭差異化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2944368"/>
            <a:ext cx="3621024" cy="347472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寵物情感連結 → 提高 Day-7 留存率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383280"/>
            <a:ext cx="3621024" cy="347472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微反思 + AI 洞察 → 行為改變科學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3621024" cy="347472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行為分析 → 少見的自我認識功能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261104"/>
            <a:ext cx="3621024" cy="347472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61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資料主權：提供完整匯出，增加信任感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450592"/>
            <a:ext cx="420624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450592"/>
            <a:ext cx="4206240" cy="50292"/>
          </a:xfrm>
          <a:prstGeom prst="rect">
            <a:avLst/>
          </a:prstGeom>
          <a:solidFill>
            <a:srgbClr val="C42626"/>
          </a:solidFill>
          <a:ln w="12700">
            <a:solidFill>
              <a:srgbClr val="C4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風險與因應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2944368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29443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用戶黏著度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28816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寵物成長 + 每日推播提醒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383280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付費轉換率低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28816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14 天 + AI 功能牆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822192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市場競爭激烈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28816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台灣本地化 + 中文 AI 洞察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261104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42611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成本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28816" y="42611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快取策略降低費用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256032"/>
            <a:ext cx="50292" cy="566928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23774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 — Post-MVP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70048" cy="45720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9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 MVP 補完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0698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0078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16276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流程（暱稱 + 選蛋 + 同意書）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0487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" y="23317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Guard（認證守衛）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08960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6384" y="303580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背景計時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18688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18688" y="1051560"/>
            <a:ext cx="2670048" cy="45720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28416" y="1069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328416" y="1280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深化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28416" y="10698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Q4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0078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639312" y="16276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進度條動畫優化 + Haptic</a:t>
            </a:r>
            <a:endParaRPr lang="en-US" sz="10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40487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39312" y="23317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自訂分心文字輸入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08960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39312" y="303580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分心熱點智能建議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813048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39312" y="3739896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 切換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071616" y="1051560"/>
            <a:ext cx="267004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F4"/>
            </a:solidFill>
            <a:prstDash val="solid"/>
          </a:ln>
          <a:effectLst>
            <a:outerShdw sx="100000" sy="100000" kx="0" ky="0" algn="bl" rotWithShape="0" blurRad="88900" dist="25400" dir="8400000">
              <a:srgbClr val="B8A8D8">
                <a:alpha val="14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071616" y="1051560"/>
            <a:ext cx="2670048" cy="45720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6181344" y="1069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6181344" y="1280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進階功能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181344" y="10698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Q1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1700784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492240" y="1627632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Apple SSO</a:t>
            </a:r>
            <a:endParaRPr lang="en-US" sz="10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404872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492240" y="2331720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徽章合成爐（Generative AI）</a:t>
            </a:r>
            <a:endParaRPr lang="en-US" sz="10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208" y="3108960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492240" y="303580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JSON-LD 資料匯出</a:t>
            </a:r>
            <a:endParaRPr lang="en-US" sz="105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6208" y="3813048"/>
            <a:ext cx="182880" cy="18288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492240" y="3739896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離線快取機制</a:t>
            </a:r>
            <a:endParaRPr lang="en-US" sz="1050" dirty="0"/>
          </a:p>
        </p:txBody>
      </p:sp>
      <p:sp>
        <p:nvSpPr>
          <p:cNvPr id="43" name="Shape 30"/>
          <p:cNvSpPr/>
          <p:nvPr/>
        </p:nvSpPr>
        <p:spPr>
          <a:xfrm>
            <a:off x="365760" y="4690872"/>
            <a:ext cx="8412480" cy="219456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365760" y="46908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Q3  ──────────────  2026 Q4  ──────────────  2027 Q1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EDE8FF">
              <a:alpha val="85000"/>
            </a:srgbClr>
          </a:solidFill>
          <a:ln w="12700">
            <a:solidFill>
              <a:srgbClr val="EDE8FF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645920"/>
            <a:ext cx="4114800" cy="4114800"/>
          </a:xfrm>
          <a:prstGeom prst="ellipse">
            <a:avLst/>
          </a:prstGeom>
          <a:solidFill>
            <a:srgbClr val="D4F5EC">
              <a:alpha val="80000"/>
            </a:srgbClr>
          </a:solidFill>
          <a:ln w="12700">
            <a:solidFill>
              <a:srgbClr val="D4F5EC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1097280"/>
            <a:ext cx="3200400" cy="3200400"/>
          </a:xfrm>
          <a:prstGeom prst="ellipse">
            <a:avLst/>
          </a:prstGeom>
          <a:solidFill>
            <a:srgbClr val="FEF0C0">
              <a:alpha val="75000"/>
            </a:srgbClr>
          </a:solidFill>
          <a:ln w="12700">
            <a:solidFill>
              <a:srgbClr val="FEF0C0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777240"/>
            <a:ext cx="58521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CF4"/>
            </a:solidFill>
            <a:prstDash val="solid"/>
          </a:ln>
          <a:effectLst>
            <a:outerShdw sx="100000" sy="100000" kx="0" ky="0" algn="bl" rotWithShape="0" blurRad="177800" dist="38100" dir="8400000">
              <a:srgbClr val="B8A8D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777240"/>
            <a:ext cx="5852160" cy="50292"/>
          </a:xfrm>
          <a:prstGeom prst="rect">
            <a:avLst/>
          </a:prstGeom>
          <a:solidFill>
            <a:srgbClr val="7C4DCC"/>
          </a:solidFill>
          <a:ln w="12700">
            <a:solidFill>
              <a:srgbClr val="7C4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144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感謝聆聽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2743200" cy="0"/>
          </a:xfrm>
          <a:prstGeom prst="line">
            <a:avLst/>
          </a:prstGeom>
          <a:noFill/>
          <a:ln w="12700">
            <a:solidFill>
              <a:srgbClr val="E4D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029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800" kern="0" dirty="0">
                <a:solidFill>
                  <a:srgbClr val="7C4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788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— 專注 · 成長 · 共生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·  Week 16  ·  2026.06.08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16152" y="4526280"/>
            <a:ext cx="1554480" cy="320040"/>
          </a:xfrm>
          <a:prstGeom prst="rect">
            <a:avLst/>
          </a:prstGeom>
          <a:solidFill>
            <a:srgbClr val="EDE8FF"/>
          </a:solidFill>
          <a:ln w="12700">
            <a:solidFill>
              <a:srgbClr val="ED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+ React Native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35224" y="4526280"/>
            <a:ext cx="1554480" cy="320040"/>
          </a:xfrm>
          <a:prstGeom prst="rect">
            <a:avLst/>
          </a:prstGeom>
          <a:solidFill>
            <a:srgbClr val="D4F5EC"/>
          </a:solidFill>
          <a:ln w="12700">
            <a:solidFill>
              <a:srgbClr val="D4F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4526280"/>
            <a:ext cx="1554480" cy="320040"/>
          </a:xfrm>
          <a:prstGeom prst="rect">
            <a:avLst/>
          </a:prstGeom>
          <a:solidFill>
            <a:srgbClr val="DAF0FF"/>
          </a:solidFill>
          <a:ln w="12700">
            <a:solidFill>
              <a:srgbClr val="DA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7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73368" y="4526280"/>
            <a:ext cx="1554480" cy="320040"/>
          </a:xfrm>
          <a:prstGeom prst="rect">
            <a:avLst/>
          </a:prstGeom>
          <a:solidFill>
            <a:srgbClr val="FEF0C0"/>
          </a:solidFill>
          <a:ln w="12700">
            <a:solidFill>
              <a:srgbClr val="FEF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4526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47C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FOCO Milestone 3</dc:title>
  <dc:subject>PptxGenJS Presentation</dc:subject>
  <dc:creator>PptxGenJS</dc:creator>
  <cp:lastModifiedBy>PptxGenJS</cp:lastModifiedBy>
  <cp:revision>1</cp:revision>
  <dcterms:created xsi:type="dcterms:W3CDTF">2026-05-26T09:28:27Z</dcterms:created>
  <dcterms:modified xsi:type="dcterms:W3CDTF">2026-05-26T09:28:27Z</dcterms:modified>
</cp:coreProperties>
</file>